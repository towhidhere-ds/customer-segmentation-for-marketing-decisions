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Roboto Slab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283" autoAdjust="0"/>
  </p:normalViewPr>
  <p:slideViewPr>
    <p:cSldViewPr snapToGrid="0" snapToObjects="1">
      <p:cViewPr varScale="1">
        <p:scale>
          <a:sx n="90" d="100"/>
          <a:sy n="90" d="100"/>
        </p:scale>
        <p:origin x="66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31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3037"/>
            <a:ext cx="7354729" cy="1437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Profiling Customer Clusters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(Grocery Shop)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our customer base is crucial for tailored marketing. We've identified four distinct clusters, each with unique profiles and needs.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72603"/>
            <a:ext cx="117824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840587"/>
            <a:ext cx="9060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289572"/>
            <a:ext cx="627804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Family-Focused Shopper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5186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34235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Profile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599521" y="40756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Parents, 2-4 household members.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45178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Commonly include teenagers.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96002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Relatively older demographic.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55270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cluster values convenience and family-sized solutions for their busy lives.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59844"/>
            <a:ext cx="117824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727829"/>
            <a:ext cx="9060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76814"/>
            <a:ext cx="75478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Marketing for Convenience &amp; Value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793790" y="2083951"/>
            <a:ext cx="3664744" cy="2448044"/>
          </a:xfrm>
          <a:prstGeom prst="roundRect">
            <a:avLst>
              <a:gd name="adj" fmla="val 597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2083951"/>
            <a:ext cx="121920" cy="24480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524" y="2341245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Promote Multi-Buy Offers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42524" y="3185993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cereals, snacks, and cleaning products for household essentials.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2083951"/>
            <a:ext cx="3664863" cy="2448044"/>
          </a:xfrm>
          <a:prstGeom prst="roundRect">
            <a:avLst>
              <a:gd name="adj" fmla="val 597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68" y="2083951"/>
            <a:ext cx="121920" cy="24480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34082" y="2341245"/>
            <a:ext cx="30125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Offer Family Meal Kits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034082" y="2831663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Ready-made meals or kits for 3-4 people to appeal to busy routines.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4758809"/>
            <a:ext cx="3664744" cy="2810947"/>
          </a:xfrm>
          <a:prstGeom prst="roundRect">
            <a:avLst>
              <a:gd name="adj" fmla="val 520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10" y="4758809"/>
            <a:ext cx="121920" cy="28109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2524" y="5016103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Utilize Traditional Channels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142524" y="5860852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Flyers and newspaper inserts complement digital promotions for this older group.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155" y="544949"/>
            <a:ext cx="1029533" cy="372547"/>
          </a:xfrm>
          <a:prstGeom prst="roundRect">
            <a:avLst>
              <a:gd name="adj" fmla="val 6384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1165979" y="604361"/>
            <a:ext cx="79188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47155" y="996672"/>
            <a:ext cx="6595110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Young Parents with Small Children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047155" y="1987391"/>
            <a:ext cx="2972872" cy="37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Profile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47155" y="2557105"/>
            <a:ext cx="6026348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Parents, max 3 household members.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7155" y="2943582"/>
            <a:ext cx="6026348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young child, not teenagers.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47155" y="3330059"/>
            <a:ext cx="6026348" cy="317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Relatively younger demographic.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47155" y="3825597"/>
            <a:ext cx="6026348" cy="63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group prioritizes child-focused products, quality, and convenient shopping experiences.</a:t>
            </a:r>
            <a:endParaRPr lang="en-US" sz="15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517" y="2012156"/>
            <a:ext cx="5450443" cy="5450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154549"/>
            <a:ext cx="117824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1222534"/>
            <a:ext cx="9060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71518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Targeting Quality &amp; Child-Focused Needs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793790" y="3145631"/>
            <a:ext cx="3664744" cy="2032754"/>
          </a:xfrm>
          <a:prstGeom prst="roundRect">
            <a:avLst>
              <a:gd name="adj" fmla="val 26781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3372445"/>
            <a:ext cx="29716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Fresh &amp; Organic Focus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3862864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fresh produce, organic baby, and toddler items.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145631"/>
            <a:ext cx="3664863" cy="2032754"/>
          </a:xfrm>
          <a:prstGeom prst="roundRect">
            <a:avLst>
              <a:gd name="adj" fmla="val 26781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4912162" y="3372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Engagement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12162" y="386286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social media campaigns and app-based personalized coupons.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405199"/>
            <a:ext cx="7556421" cy="1669852"/>
          </a:xfrm>
          <a:prstGeom prst="roundRect">
            <a:avLst>
              <a:gd name="adj" fmla="val 32601"/>
            </a:avLst>
          </a:prstGeom>
          <a:solidFill>
            <a:srgbClr val="E9ECF2"/>
          </a:solidFill>
          <a:ln/>
        </p:spPr>
      </p:sp>
      <p:sp>
        <p:nvSpPr>
          <p:cNvPr id="13" name="Text 10"/>
          <p:cNvSpPr/>
          <p:nvPr/>
        </p:nvSpPr>
        <p:spPr>
          <a:xfrm>
            <a:off x="1020604" y="5632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In-Store Experiences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0604" y="612243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Kid-friendly samples or family-friendly parking to enhance engagement.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616" y="578287"/>
            <a:ext cx="1090017" cy="394335"/>
          </a:xfrm>
          <a:prstGeom prst="roundRect">
            <a:avLst>
              <a:gd name="adj" fmla="val 6388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860465" y="641152"/>
            <a:ext cx="83831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4616" y="1056561"/>
            <a:ext cx="7519154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High-Income, Non-Parent Households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2132171"/>
            <a:ext cx="5282922" cy="52829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78804" y="2105978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Profile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7578804" y="2709505"/>
            <a:ext cx="632460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parents, 1-2 household members.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78804" y="3118723"/>
            <a:ext cx="632460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Couples slightly outnumber singles.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8804" y="3527941"/>
            <a:ext cx="632460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Wide age range, high-income segment.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78804" y="4052530"/>
            <a:ext cx="6324600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cluster seeks premium, specialty products and unique shopping experiences.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122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9381" y="3308866"/>
            <a:ext cx="1127046" cy="407670"/>
          </a:xfrm>
          <a:prstGeom prst="roundRect">
            <a:avLst>
              <a:gd name="adj" fmla="val 6387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889516" y="3373874"/>
            <a:ext cx="866775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2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9381" y="3803213"/>
            <a:ext cx="7321748" cy="542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Showcasing Premium &amp; Exclusivity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59381" y="4996458"/>
            <a:ext cx="4225885" cy="2639139"/>
          </a:xfrm>
          <a:prstGeom prst="roundRect">
            <a:avLst>
              <a:gd name="adj" fmla="val 5544"/>
            </a:avLst>
          </a:prstGeom>
          <a:solidFill>
            <a:srgbClr val="FBFCF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81" y="4965978"/>
            <a:ext cx="4225885" cy="12192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806" y="4671060"/>
            <a:ext cx="650915" cy="6509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2069" y="4833818"/>
            <a:ext cx="26027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1006793" y="5538907"/>
            <a:ext cx="271224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Gourmet Offerings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006793" y="6008013"/>
            <a:ext cx="3731062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high-quality meats, imported cheeses, fine wines, and international foods.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202198" y="4996458"/>
            <a:ext cx="4225885" cy="2639139"/>
          </a:xfrm>
          <a:prstGeom prst="roundRect">
            <a:avLst>
              <a:gd name="adj" fmla="val 5544"/>
            </a:avLst>
          </a:prstGeom>
          <a:solidFill>
            <a:srgbClr val="FBFCF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198" y="4965978"/>
            <a:ext cx="4225885" cy="12192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24" y="4671060"/>
            <a:ext cx="650915" cy="65091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84886" y="4833818"/>
            <a:ext cx="26027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5449610" y="5538907"/>
            <a:ext cx="2910840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Quality Over Discounts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5449610" y="6008013"/>
            <a:ext cx="373106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Emphasize exclusivity and unique shopping experiences, not just price.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9645015" y="4996458"/>
            <a:ext cx="4225885" cy="2639139"/>
          </a:xfrm>
          <a:prstGeom prst="roundRect">
            <a:avLst>
              <a:gd name="adj" fmla="val 5544"/>
            </a:avLst>
          </a:prstGeom>
          <a:solidFill>
            <a:srgbClr val="FBFCFE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5015" y="4965978"/>
            <a:ext cx="4225885" cy="12192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2441" y="4671060"/>
            <a:ext cx="650915" cy="65091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627703" y="4833818"/>
            <a:ext cx="26027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050" dirty="0"/>
          </a:p>
        </p:txBody>
      </p:sp>
      <p:sp>
        <p:nvSpPr>
          <p:cNvPr id="22" name="Text 13"/>
          <p:cNvSpPr/>
          <p:nvPr/>
        </p:nvSpPr>
        <p:spPr>
          <a:xfrm>
            <a:off x="9892427" y="5538907"/>
            <a:ext cx="3731062" cy="677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Curated Bundles &amp; Newsletters</a:t>
            </a:r>
            <a:endParaRPr lang="en-US" sz="2100" dirty="0"/>
          </a:p>
        </p:txBody>
      </p:sp>
      <p:sp>
        <p:nvSpPr>
          <p:cNvPr id="23" name="Text 14"/>
          <p:cNvSpPr/>
          <p:nvPr/>
        </p:nvSpPr>
        <p:spPr>
          <a:xfrm>
            <a:off x="9892427" y="6346984"/>
            <a:ext cx="3731062" cy="104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themed dinner kits and magazine-style email newsletters for an upscale brand image.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228" y="559951"/>
            <a:ext cx="1057632" cy="382667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97387" y="621030"/>
            <a:ext cx="813316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75228" y="1024057"/>
            <a:ext cx="5895618" cy="509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Cost-Conscious Large Families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75228" y="2042160"/>
            <a:ext cx="3054429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Profile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5228" y="2627471"/>
            <a:ext cx="619160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Parents, 2-5 household members.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5228" y="3024426"/>
            <a:ext cx="619160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Teenagers are common.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5228" y="3421380"/>
            <a:ext cx="6191607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Older demographic, lower-income segment.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5228" y="3930372"/>
            <a:ext cx="6191607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cluster focuses on maximizing savings and value for their larger households.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184" y="2067639"/>
            <a:ext cx="5373648" cy="5373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897969"/>
            <a:ext cx="117824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965954"/>
            <a:ext cx="9060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414939"/>
            <a:ext cx="68089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Strategies for Savings &amp; Volume</a:t>
            </a:r>
            <a:endParaRPr lang="en-US" sz="3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322076"/>
            <a:ext cx="1134070" cy="16698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2548890"/>
            <a:ext cx="29845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Promote Private-Label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303930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Emphasize store-brand products for better value across categories.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991928"/>
            <a:ext cx="1134070" cy="16698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218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Bulk Purchasing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4709160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bulk options and clearly communicate weekly sales via flyers.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61779"/>
            <a:ext cx="1134070" cy="16698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58885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Loyalty Program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379012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high-value points or immediate cash-off rewards to encourage repeat visits.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532"/>
            <a:ext cx="83416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Tailored Marketing for Every Customer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521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understanding each customer cluster, we can develop highly effective marketing strategies that resonate with their specific needs and preferences.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3462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 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52994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Family Convenience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638550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3462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 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952994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Young Family Quality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4027051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915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 2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6405563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Lifestyle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6252924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57256" y="5915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 3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405563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&amp; Bulk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5864423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434</Words>
  <Application>Microsoft Office PowerPoint</Application>
  <PresentationFormat>Custom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Roboto Slab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Towhidul Islam</cp:lastModifiedBy>
  <cp:revision>3</cp:revision>
  <dcterms:created xsi:type="dcterms:W3CDTF">2026-01-11T02:50:12Z</dcterms:created>
  <dcterms:modified xsi:type="dcterms:W3CDTF">2026-01-11T02:55:00Z</dcterms:modified>
</cp:coreProperties>
</file>